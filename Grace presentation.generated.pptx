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neyard-sun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1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4709160"/>
            <a:ext cx="4663440" cy="73152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864608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Grace, Justice denied or Mercy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546811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7EEDC"/>
                </a:solidFill>
                <a:latin typeface="Aptos"/>
              </a:rPr>
              <a:t>Matthew 20:1-16, John 8:1-11, and the scandal of mercy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577900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E8D6B4"/>
                </a:solidFill>
                <a:latin typeface="Aptos"/>
              </a:rPr>
              <a:t>Adventist church discussion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Grace, Justice denied or Mercy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Opening</a:t>
            </a:r>
          </a:p>
        </p:txBody>
      </p:sp>
      <p:pic>
        <p:nvPicPr>
          <p:cNvPr id="6" name="Picture 5" descr="justice-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822960"/>
            <a:ext cx="457200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9601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7313D"/>
                </a:solidFill>
                <a:latin typeface="Georgia"/>
              </a:rPr>
              <a:t>When does grace feel unfair?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Start with the feeling in the room.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Most people understand grace as kindness.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But Matthew 20 shows why grace can feel like a threat to fairness, rank, and deservedness.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005072"/>
            <a:ext cx="530352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078224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What is your first reaction to the workers who arrived late?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26280"/>
            <a:ext cx="530352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599432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Where do we see ourselves in the parable?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5257800" cy="86868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239512"/>
            <a:ext cx="4928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Matthew 20:15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404104"/>
            <a:ext cx="4928616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“Am I not allowed to do what I choose with what belongs to me?”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Matthew 20:1-16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The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896112"/>
            <a:ext cx="5486400" cy="5440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neyard-sun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212080" cy="5349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1887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13D"/>
                </a:solidFill>
                <a:latin typeface="Georgia"/>
              </a:rPr>
              <a:t>The landowner hires workers at different hours, yet pays each the same wage.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663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 complaint is not simply about money.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It is about comparison.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 early workers measure generosity by rank, output, and time served.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Jesus closes the story with a kingdom reversal: the last become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343400"/>
            <a:ext cx="4754880" cy="105156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416552"/>
            <a:ext cx="4425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Matthew 20:13-15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581144"/>
            <a:ext cx="4425696" cy="740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“Friend, I am doing you no wrong ... Is your eye evil because I am good?”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What Grace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Definition</a:t>
            </a:r>
          </a:p>
        </p:txBody>
      </p:sp>
      <p:pic>
        <p:nvPicPr>
          <p:cNvPr id="6" name="Picture 5" descr="bible-sun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868680"/>
            <a:ext cx="4937760" cy="5440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96012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5A64"/>
                </a:solidFill>
                <a:latin typeface="Georgia"/>
              </a:rPr>
              <a:t>Grace is God giving what we cannot earn.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Grace is favor, gift, rescue, welcome, and divine initiative.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It is not wages for good performance.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It is not God pretending sin does not matter.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Grace is generosity that reaches sinners, not rewards achievers.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023360"/>
            <a:ext cx="539496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096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How would you explain grace to a teenager in one sentence?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72000"/>
            <a:ext cx="5486400" cy="96012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645152"/>
            <a:ext cx="5157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Ephesians 2:8-9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809744"/>
            <a:ext cx="515721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“By grace are ye saved through faith ... it is the gift of God.”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What Grace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Clarifying</a:t>
            </a:r>
          </a:p>
        </p:txBody>
      </p:sp>
      <p:pic>
        <p:nvPicPr>
          <p:cNvPr id="6" name="Picture 5" descr="justice-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0"/>
            <a:ext cx="45720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914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9E5B54"/>
                </a:solidFill>
                <a:latin typeface="Georgia"/>
              </a:rPr>
              <a:t>Grace is not a loophole.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737360"/>
            <a:ext cx="47548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Not permission to stay unchanged.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Not the softening of holiness.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Not the cancellation of justice.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Not a divine shrug.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Bonhoeffer called out the danger of “cheap grace.”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4434840"/>
            <a:ext cx="5074920" cy="91440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507992"/>
            <a:ext cx="4745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Titus 2:11-12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672583"/>
            <a:ext cx="4745736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“The grace of God ... teaches us to say No to ungodliness.”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86400"/>
            <a:ext cx="512064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559552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What happens when grace is treated as permission?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Grace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Theological 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10789920" cy="51663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7D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371600"/>
            <a:ext cx="4800600" cy="1115568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8132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A64"/>
                </a:solidFill>
                <a:latin typeface="Georgia"/>
              </a:rPr>
              <a:t>Common grace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00784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313D"/>
                </a:solidFill>
                <a:latin typeface="Aptos"/>
              </a:rPr>
              <a:t>God’s kindness shown broadly in creation, restraint, and providence.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371600"/>
            <a:ext cx="4800600" cy="1115568"/>
          </a:xfrm>
          <a:prstGeom prst="roundRect">
            <a:avLst/>
          </a:prstGeom>
          <a:solidFill>
            <a:srgbClr val="F3F6F1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8132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A64"/>
                </a:solidFill>
                <a:latin typeface="Georgia"/>
              </a:rPr>
              <a:t>Prevenient grace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00784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313D"/>
                </a:solidFill>
                <a:latin typeface="Aptos"/>
              </a:rPr>
              <a:t>Grace that goes before, stirring response before conversion.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807208"/>
            <a:ext cx="4800600" cy="1115568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1693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A64"/>
                </a:solidFill>
                <a:latin typeface="Georgia"/>
              </a:rPr>
              <a:t>Irresistible / effectual grace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36392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313D"/>
                </a:solidFill>
                <a:latin typeface="Aptos"/>
              </a:rPr>
              <a:t>Grace understood by Calvinists as bringing the elect surely to faith.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807208"/>
            <a:ext cx="4800600" cy="1115568"/>
          </a:xfrm>
          <a:prstGeom prst="roundRect">
            <a:avLst/>
          </a:prstGeom>
          <a:solidFill>
            <a:srgbClr val="F3F6F1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91693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A64"/>
                </a:solidFill>
                <a:latin typeface="Georgia"/>
              </a:rPr>
              <a:t>Sanctifying grace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36392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313D"/>
                </a:solidFill>
                <a:latin typeface="Aptos"/>
              </a:rPr>
              <a:t>Grace that forms character and holiness after conversion.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242816"/>
            <a:ext cx="4800600" cy="1115568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352544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A64"/>
                </a:solidFill>
                <a:latin typeface="Georgia"/>
              </a:rPr>
              <a:t>Marvelous grace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57200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313D"/>
                </a:solidFill>
                <a:latin typeface="Aptos"/>
              </a:rPr>
              <a:t>A worshipful way to speak about grace’s wonder.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242816"/>
            <a:ext cx="4800600" cy="1115568"/>
          </a:xfrm>
          <a:prstGeom prst="roundRect">
            <a:avLst/>
          </a:prstGeom>
          <a:solidFill>
            <a:srgbClr val="F3F6F1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352544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A64"/>
                </a:solidFill>
                <a:latin typeface="Georgia"/>
              </a:rPr>
              <a:t>Sufficient grace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313D"/>
                </a:solidFill>
                <a:latin typeface="Aptos"/>
              </a:rPr>
              <a:t>Grace enough for weakness, pain, and endurance.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86400"/>
            <a:ext cx="1033272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3" y="555955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Which of these terms have you heard used differently in church?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Why We Need Grace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Human need</a:t>
            </a:r>
          </a:p>
        </p:txBody>
      </p:sp>
      <p:pic>
        <p:nvPicPr>
          <p:cNvPr id="6" name="Picture 5" descr="bible-sun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914400"/>
            <a:ext cx="516636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051560"/>
            <a:ext cx="5486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Because guilt is real.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Because the heart bends toward comparison, pride, and self-justification.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Because we cannot heal ourselves by pretending we are fine.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Because forgiveness is deeper than improvement.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Because mercy meets us where merit cannot.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5486400" cy="932688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233672"/>
            <a:ext cx="5157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Romans 3:23-24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398264"/>
            <a:ext cx="515721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“For all have sinned ... and are justified freely by his grace.”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548640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513832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What changes when we stop trying to earn what can only be received?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Biblical Examples of Grace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Scripture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32688"/>
            <a:ext cx="10835640" cy="5440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7D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4983480" cy="658368"/>
          </a:xfrm>
          <a:prstGeom prst="roundRect">
            <a:avLst/>
          </a:prstGeom>
          <a:solidFill>
            <a:srgbClr val="F4EDE0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8132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5A64"/>
                </a:solidFill>
                <a:latin typeface="Georgia"/>
              </a:rPr>
              <a:t>Noah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481328"/>
            <a:ext cx="3611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Grace preserved a remnant through judgment.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40280"/>
            <a:ext cx="4983480" cy="658368"/>
          </a:xfrm>
          <a:prstGeom prst="roundRect">
            <a:avLst/>
          </a:prstGeom>
          <a:solidFill>
            <a:srgbClr val="EEF5F2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5000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5A64"/>
                </a:solidFill>
                <a:latin typeface="Georgia"/>
              </a:rPr>
              <a:t>Abraham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350008"/>
            <a:ext cx="3611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Grace called one man to become a blessing to the 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08960"/>
            <a:ext cx="4983480" cy="658368"/>
          </a:xfrm>
          <a:prstGeom prst="roundRect">
            <a:avLst/>
          </a:prstGeom>
          <a:solidFill>
            <a:srgbClr val="F4EDE0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21868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5A64"/>
                </a:solidFill>
                <a:latin typeface="Georgia"/>
              </a:rPr>
              <a:t>David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218688"/>
            <a:ext cx="3611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Grace restored a king after sin and repentance.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77639"/>
            <a:ext cx="4983480" cy="658368"/>
          </a:xfrm>
          <a:prstGeom prst="roundRect">
            <a:avLst/>
          </a:prstGeom>
          <a:solidFill>
            <a:srgbClr val="EEF5F2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08736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5A64"/>
                </a:solidFill>
                <a:latin typeface="Georgia"/>
              </a:rPr>
              <a:t>Prodigal 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087368"/>
            <a:ext cx="3611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Grace ran to meet the one who had already failed.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46320"/>
            <a:ext cx="4983480" cy="658368"/>
          </a:xfrm>
          <a:prstGeom prst="roundRect">
            <a:avLst/>
          </a:prstGeom>
          <a:solidFill>
            <a:srgbClr val="F4EDE0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95604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5A64"/>
                </a:solidFill>
                <a:latin typeface="Georgia"/>
              </a:rPr>
              <a:t>Paul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956048"/>
            <a:ext cx="3611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Grace turned an enemy into a messenger.</a:t>
            </a:r>
          </a:p>
        </p:txBody>
      </p:sp>
      <p:pic>
        <p:nvPicPr>
          <p:cNvPr id="22" name="Picture 21" descr="bible-sun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4297680" cy="36576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96112" y="5577840"/>
            <a:ext cx="557784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5650992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Which example best matches the people you are speaking to?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Grace and Justice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The tension</a:t>
            </a:r>
          </a:p>
        </p:txBody>
      </p:sp>
      <p:pic>
        <p:nvPicPr>
          <p:cNvPr id="6" name="Picture 5" descr="justice-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914400"/>
            <a:ext cx="50749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1051560"/>
            <a:ext cx="548640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Justice asks, What is owed?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Mercy asks, What can be spared?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Grace asks, What can be given that is not earned?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In the gospel, justice is not erased; it is fulfilled through mercy in Christ.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977639"/>
            <a:ext cx="5486400" cy="1024128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50791"/>
            <a:ext cx="5157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Psalm 85:10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15383"/>
            <a:ext cx="51572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Mercy and truth are met together; righteousness and peace have kissed each other.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5440680"/>
            <a:ext cx="548640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513832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How does this keep grace from becoming sentimental?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Grace in Church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Practice</a:t>
            </a:r>
          </a:p>
        </p:txBody>
      </p:sp>
      <p:pic>
        <p:nvPicPr>
          <p:cNvPr id="6" name="Picture 5" descr="vineyard-sun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914400"/>
            <a:ext cx="530352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1051560"/>
            <a:ext cx="54864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Grace welcomes the latecomer.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Grace forgives the slow learner.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Grace corrects without humiliation.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Grace leaves room for growth.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Grace sounds like truth spoken with mercy.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069080"/>
            <a:ext cx="548640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142232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What would a grace-shaped Sabbath school class sound like?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617720"/>
            <a:ext cx="5486400" cy="82296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5157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James 2:13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515721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Mercy triumphs over judgment.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5504688"/>
            <a:ext cx="548640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577840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Where do we need more mercy in our church culture?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Why Grace Feels Unfair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The offense</a:t>
            </a:r>
          </a:p>
        </p:txBody>
      </p:sp>
      <p:pic>
        <p:nvPicPr>
          <p:cNvPr id="6" name="Picture 5" descr="justice-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914400"/>
            <a:ext cx="493776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1143000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It upsets our accounting.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It levels people who expected hierarchy.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It welcomes latecomers without apology.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It breaks the link between status and blessing.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200400"/>
            <a:ext cx="557784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273552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Who are the “late workers” in our churches and communities?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767328"/>
            <a:ext cx="557784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84048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Why do we instinctively want grace to be rationed?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572000"/>
            <a:ext cx="5440680" cy="91440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45152"/>
            <a:ext cx="51114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Matthew 20:10-12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9744"/>
            <a:ext cx="5111496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“These who were hired last worked only one hour ...”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The Landowner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Matthew 20</a:t>
            </a:r>
          </a:p>
        </p:txBody>
      </p:sp>
      <p:pic>
        <p:nvPicPr>
          <p:cNvPr id="6" name="Picture 5" descr="vineyard-sun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868680"/>
            <a:ext cx="5303520" cy="5440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005840"/>
            <a:ext cx="54864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 landowner insists he has not been unjust.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He keeps his promise to the first workers.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Then he chooses generosity for the rest.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 issue is not fairness versus fraud.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 issue is fairness versus generosity.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160520"/>
            <a:ext cx="5486400" cy="109728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33672"/>
            <a:ext cx="5157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Matthew 20:13-15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98264"/>
            <a:ext cx="515721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“I am not being unfair to you ... I want to give to the one who was hired last the same as I gave you.”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5532120"/>
            <a:ext cx="548640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605272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Do we want grace for ourselves and contracts for everyone else?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John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Mercy and holiness</a:t>
            </a:r>
          </a:p>
        </p:txBody>
      </p:sp>
      <p:pic>
        <p:nvPicPr>
          <p:cNvPr id="6" name="Picture 5" descr="mercy-courty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868680"/>
            <a:ext cx="5074920" cy="5440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1005840"/>
            <a:ext cx="548640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 accusers want punishment.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Jesus exposes their own sin without excusing hers.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He protects the woman from condemnation and calls her away from sin.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Grace does not deny truth; it rescues the sinner inside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160520"/>
            <a:ext cx="5486400" cy="1115568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33672"/>
            <a:ext cx="5157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John 8:7,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98264"/>
            <a:ext cx="5157216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“He that is without sin among you, let him first cast a stone ... Neither do I condemn thee: go, and sin no more.”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5559552"/>
            <a:ext cx="548640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632704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How does Jesus hold mercy and holiness together here?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Voices on Grace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Quotes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0881360" cy="53492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7D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234440"/>
            <a:ext cx="3246120" cy="1371600"/>
          </a:xfrm>
          <a:prstGeom prst="roundRect">
            <a:avLst/>
          </a:prstGeom>
          <a:solidFill>
            <a:srgbClr val="F4E6D5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344168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5A64"/>
                </a:solidFill>
                <a:latin typeface="Georgia"/>
              </a:rPr>
              <a:t>Bonhoeffer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1572768"/>
            <a:ext cx="295351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7313D"/>
                </a:solidFill>
                <a:latin typeface="Georgia"/>
              </a:rPr>
              <a:t>“Cheap grace is grace without discipleship.”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234440"/>
            <a:ext cx="3246120" cy="1371600"/>
          </a:xfrm>
          <a:prstGeom prst="roundRect">
            <a:avLst/>
          </a:prstGeom>
          <a:solidFill>
            <a:srgbClr val="E5F0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344168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5A64"/>
                </a:solidFill>
                <a:latin typeface="Georgia"/>
              </a:rPr>
              <a:t>C. S. Lewis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572768"/>
            <a:ext cx="295351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7313D"/>
                </a:solidFill>
                <a:latin typeface="Georgia"/>
              </a:rPr>
              <a:t>“Pride is the complete anti-God state of mind.”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234440"/>
            <a:ext cx="3246120" cy="1371600"/>
          </a:xfrm>
          <a:prstGeom prst="roundRect">
            <a:avLst/>
          </a:prstGeom>
          <a:solidFill>
            <a:srgbClr val="F6E8E2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344168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5A64"/>
                </a:solidFill>
                <a:latin typeface="Georgia"/>
              </a:rPr>
              <a:t>Spurgeon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1572768"/>
            <a:ext cx="295351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7313D"/>
                </a:solidFill>
                <a:latin typeface="Georgia"/>
              </a:rPr>
              <a:t>“It is not thy hold on Christ that saves thee; it is Christ.”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3246120"/>
            <a:ext cx="8503920" cy="1325880"/>
          </a:xfrm>
          <a:prstGeom prst="roundRect">
            <a:avLst/>
          </a:prstGeom>
          <a:solidFill>
            <a:srgbClr val="FFF2D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3355848"/>
            <a:ext cx="8229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5A64"/>
                </a:solidFill>
                <a:latin typeface="Georgia"/>
              </a:rPr>
              <a:t>A biblical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9384" y="3584448"/>
            <a:ext cx="8211312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7313D"/>
                </a:solidFill>
                <a:latin typeface="Georgia"/>
              </a:rPr>
              <a:t>“By grace are ye saved through faith ... not of works, lest any man should boast.”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394960"/>
            <a:ext cx="7955279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3" y="5468112"/>
            <a:ext cx="76809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Which quote best challenges how we talk about grace in church?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Questions</a:t>
            </a:r>
          </a:p>
        </p:txBody>
      </p:sp>
      <p:pic>
        <p:nvPicPr>
          <p:cNvPr id="6" name="Picture 5" descr="vineyard-sun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868680"/>
            <a:ext cx="4206240" cy="5440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1051560"/>
            <a:ext cx="5943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Use these to open the room up: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1. When has grace felt unfair to you?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2. Which is harder for you: receiving grace or giving it?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3. How does this parable challenge Adventist community life?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4. What does grace ask us to change after it forgives us?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343400"/>
            <a:ext cx="5760720" cy="91440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16552"/>
            <a:ext cx="5431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Luke 7:47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431536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“Her sins, which are many, are forgiven; for she loved much.”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5532120"/>
            <a:ext cx="576072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6052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Which question should we leave space to answer out loud?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Invitation</a:t>
            </a:r>
          </a:p>
        </p:txBody>
      </p:sp>
      <p:pic>
        <p:nvPicPr>
          <p:cNvPr id="6" name="Picture 5" descr="bible-sun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680"/>
            <a:ext cx="12191695" cy="5989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68680"/>
            <a:ext cx="12191695" cy="5989320"/>
          </a:xfrm>
          <a:prstGeom prst="rect">
            <a:avLst/>
          </a:prstGeom>
          <a:solidFill>
            <a:srgbClr val="1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288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Grace does not deny justice.
It reveals mercy at the heart of God.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6583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F6EFD9"/>
                </a:solidFill>
                <a:latin typeface="Aptos"/>
              </a:rPr>
              <a:t>So the question is not whether God is good enough to forgive.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F6EFD9"/>
                </a:solidFill>
                <a:latin typeface="Aptos"/>
              </a:rPr>
              <a:t>The question is whether we will receive the gift, and then live like people who have received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645152"/>
            <a:ext cx="4206240" cy="914400"/>
          </a:xfrm>
          <a:prstGeom prst="roundRect">
            <a:avLst/>
          </a:prstGeom>
          <a:solidFill>
            <a:srgbClr val="FFF1D3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4919472"/>
            <a:ext cx="3794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1">
                <a:solidFill>
                  <a:srgbClr val="17313D"/>
                </a:solidFill>
                <a:latin typeface="Georgia"/>
              </a:rPr>
              <a:t>“The last shall be first.”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