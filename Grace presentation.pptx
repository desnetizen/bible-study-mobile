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4709160"/>
            <a:ext cx="4663440" cy="73152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4864608"/>
            <a:ext cx="795527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Grace, Justice denied or Mercy 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" y="5468112"/>
            <a:ext cx="7132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F7EEDC"/>
                </a:solidFill>
                <a:latin typeface="Aptos"/>
              </a:rPr>
              <a:t>Matthew 20:1-16, John 8:1-11, and the scandal of mercy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577900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1">
                <a:solidFill>
                  <a:srgbClr val="E8D6B4"/>
                </a:solidFill>
                <a:latin typeface="Aptos"/>
              </a:rPr>
              <a:t>Adventist church discussion deck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Grace, Justice denied or Mercy required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Opening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822960"/>
            <a:ext cx="4572000" cy="5394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9601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17313D"/>
                </a:solidFill>
                <a:latin typeface="Georgia"/>
              </a:rPr>
              <a:t>When does grace feel unfair?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828800"/>
            <a:ext cx="47548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Start with the feeling in the room.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Most people understand grace as kindness.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But Matthew 20 shows why grace can feel like a threat to fairness, rank, and deservedness.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05072"/>
            <a:ext cx="53035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78224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is your first reaction to the workers who arrived late?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4526280"/>
            <a:ext cx="53035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" y="4599432"/>
            <a:ext cx="5029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Where do we see ourselves in the parable?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66360"/>
            <a:ext cx="5257800" cy="8686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239512"/>
            <a:ext cx="49286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5404104"/>
            <a:ext cx="4928616" cy="5577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“Am I not allowed to do what I choose with what belongs to me?”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Matthew 20:1-16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 story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896112"/>
            <a:ext cx="5486400" cy="544068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914400"/>
            <a:ext cx="5212080" cy="53492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68680" y="1188720"/>
            <a:ext cx="49377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17313D"/>
                </a:solidFill>
                <a:latin typeface="Georgia"/>
              </a:rPr>
              <a:t>The landowner hires workers at different hours, yet pays each the same wage.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6634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complaint is not simply about money.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about comparison.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early workers measure generosity by rank, output, and time served.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Jesus closes the story with a kingdom reversal: the last become first.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343400"/>
            <a:ext cx="4754880" cy="105156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1" y="4416552"/>
            <a:ext cx="44256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20:13-15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3271" y="4581144"/>
            <a:ext cx="4425696" cy="74066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“Friend, I am doing you no wrong ... Is your eye evil because I am good?”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What Grace 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Definition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868680"/>
            <a:ext cx="493776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960120"/>
            <a:ext cx="5394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1F5A64"/>
                </a:solidFill>
                <a:latin typeface="Georgia"/>
              </a:rPr>
              <a:t>Grace is God giving what we cannot earn.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645920"/>
            <a:ext cx="548640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is favor, gift, rescue, welcome, and divine initiative.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not wages for good performance.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It is not God pretending sin does not matter.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is generosity that reaches sinners, not rewards achievers.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4023360"/>
            <a:ext cx="539496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4096512"/>
            <a:ext cx="51206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How would you explain grace to a teenager in one sentence?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4572000"/>
            <a:ext cx="5486400" cy="96012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" y="464515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Ephesians 2:8-9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4809744"/>
            <a:ext cx="5157216" cy="6492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“By grace are ye saved through faith ... it is the gift of God.”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What Grace Is Not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Clarifying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914400"/>
            <a:ext cx="457200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13232" y="914400"/>
            <a:ext cx="5120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9E5B54"/>
                </a:solidFill>
                <a:latin typeface="Georgia"/>
              </a:rPr>
              <a:t>Grace is not a loophole.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737360"/>
            <a:ext cx="4754880" cy="2057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permission to stay unchanged.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the softening of holiness.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the cancellation of justice.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Not a divine shrug.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Bonhoeffer called out the danger of “cheap grace.”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4434840"/>
            <a:ext cx="507492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4507992"/>
            <a:ext cx="47457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Titus 2:11-12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0976" y="4672583"/>
            <a:ext cx="474573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“The grace of God ... teaches us to say No to ungodliness.”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" y="5486400"/>
            <a:ext cx="51206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2688" y="5559552"/>
            <a:ext cx="4846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happens when grace is treated as permission?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Grace Words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Theological vocabulary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960120"/>
            <a:ext cx="10789920" cy="516636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7D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371600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14813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Common grace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007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God’s kindness shown broadly in creation, restraint, and providence.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46520" y="1371600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81328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Prevenient grace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700784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that goes before, stirring response before conversion.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05840" y="2807208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3000" y="291693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Irresistible / effectual grace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313639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understood by Calvinists as bringing the elect surely to faith.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807208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2916936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Sanctifying grace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136392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that forms character and holiness after conversion.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05840" y="4242816"/>
            <a:ext cx="4800600" cy="1115568"/>
          </a:xfrm>
          <a:prstGeom prst="roundRect">
            <a:avLst/>
          </a:prstGeom>
          <a:solidFill>
            <a:srgbClr val="FFF5E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4352544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Marvelous grace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45720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A worshipful way to speak about grace’s wonder.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46520" y="4242816"/>
            <a:ext cx="4800600" cy="1115568"/>
          </a:xfrm>
          <a:prstGeom prst="roundRect">
            <a:avLst/>
          </a:prstGeom>
          <a:solidFill>
            <a:srgbClr val="F3F6F1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4352544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1F5A64"/>
                </a:solidFill>
                <a:latin typeface="Georgia"/>
              </a:rPr>
              <a:t>Sufficient grace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572000"/>
            <a:ext cx="4526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17313D"/>
                </a:solidFill>
                <a:latin typeface="Aptos"/>
              </a:rPr>
              <a:t>Grace enough for weakness, pain, and endurance.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" y="5486400"/>
            <a:ext cx="103327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4983" y="5559552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of these terms have you heard used differently in church?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Why We Need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Human need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914400"/>
            <a:ext cx="516636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51560"/>
            <a:ext cx="548640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guilt is real.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the heart bends toward comparison, pride, and self-justification.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we cannot heal ourselves by pretending we are fine.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forgiveness is deeper than improvement.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Because mercy meets us where merit cannot.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160520"/>
            <a:ext cx="5486400" cy="93268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Romans 3:23-24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398264"/>
            <a:ext cx="5157216" cy="621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“For all have sinned ... and are justified freely by his grace.”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44068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551383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What changes when we stop trying to earn what can only be received?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Why Grace Feels Unfair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The offense</a:t>
            </a:r>
          </a:p>
        </p:txBody>
      </p:sp>
      <p:pic>
        <p:nvPicPr>
          <p:cNvPr id="6" name="Picture 5" descr="justice-sca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914400"/>
            <a:ext cx="4937760" cy="5303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143000"/>
            <a:ext cx="530352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upsets our accounting.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levels people who expected hierarchy.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welcomes latecomers without apology.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It breaks the link between status and blessing.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200400"/>
            <a:ext cx="55778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2" y="3273552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Who are the “late workers” in our churches and communities?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8" y="3767328"/>
            <a:ext cx="557784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840480"/>
            <a:ext cx="5303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Why do we instinctively want grace to be rationed?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9808" y="4572000"/>
            <a:ext cx="544068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645152"/>
            <a:ext cx="511149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20:10-12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809744"/>
            <a:ext cx="511149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“These who were hired last worked only one hour ...”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The Landowner Answers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Matthew 20</a:t>
            </a:r>
          </a:p>
        </p:txBody>
      </p:sp>
      <p:pic>
        <p:nvPicPr>
          <p:cNvPr id="6" name="Picture 5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868680"/>
            <a:ext cx="530352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1005840"/>
            <a:ext cx="54864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landowner insists he has not been unjust.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He keeps his promise to the first workers.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Then he chooses generosity for the rest.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issue is not fairness versus fraud.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issue is fairness versus generosity.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5486400" cy="109728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Matthew 20:13-15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5157216" cy="7863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“I am not being unfair to you ... I want to give to the one who was hired last the same as I gave you.”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32120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05272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Do we want grace for ourselves and contracts for everyone else?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John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Mercy and holiness</a:t>
            </a:r>
          </a:p>
        </p:txBody>
      </p:sp>
      <p:pic>
        <p:nvPicPr>
          <p:cNvPr id="6" name="Picture 5" descr="mercy-courty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868680"/>
            <a:ext cx="507492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05840"/>
            <a:ext cx="5486400" cy="2514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The accusers want punishment.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Jesus exposes their own sin without excusing hers.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He protects the woman from condemnation and calls her away from sin.</a:t>
            </a:r>
          </a:p>
          <a:p>
            <a:pPr>
              <a:spcAft>
                <a:spcPts val="900"/>
              </a:spcAft>
            </a:pPr>
            <a:r>
              <a:rPr sz="1500">
                <a:solidFill>
                  <a:srgbClr val="17313D"/>
                </a:solidFill>
                <a:latin typeface="Aptos"/>
              </a:rPr>
              <a:t>Grace does not deny truth; it rescues the sinner inside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160520"/>
            <a:ext cx="5486400" cy="1115568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233672"/>
            <a:ext cx="51572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John 8:7, 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98264"/>
            <a:ext cx="5157216" cy="80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“He that is without sin among you, let him first cast a stone ... Neither do I condemn thee: go, and sin no more.”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59552"/>
            <a:ext cx="548640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32704"/>
            <a:ext cx="52120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How does Jesus hold mercy and holiness together here?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Voices on Grace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Quotes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914400"/>
            <a:ext cx="10881360" cy="5349240"/>
          </a:xfrm>
          <a:prstGeom prst="roundRect">
            <a:avLst/>
          </a:prstGeom>
          <a:solidFill>
            <a:srgbClr val="FFFDF8"/>
          </a:solidFill>
          <a:ln w="12700">
            <a:solidFill>
              <a:srgbClr val="E7D7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96112" y="1234440"/>
            <a:ext cx="3246120" cy="1371600"/>
          </a:xfrm>
          <a:prstGeom prst="roundRect">
            <a:avLst/>
          </a:prstGeom>
          <a:solidFill>
            <a:srgbClr val="F4E6D5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33271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Bonhoeffer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42415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“Cheap grace is grace without discipleship.”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62272" y="1234440"/>
            <a:ext cx="3246120" cy="1371600"/>
          </a:xfrm>
          <a:prstGeom prst="roundRect">
            <a:avLst/>
          </a:prstGeom>
          <a:solidFill>
            <a:srgbClr val="E5F0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C. S. Lewis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08576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“Pride is the complete anti-God state of mind.”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28431" y="1234440"/>
            <a:ext cx="3246120" cy="1371600"/>
          </a:xfrm>
          <a:prstGeom prst="roundRect">
            <a:avLst/>
          </a:prstGeom>
          <a:solidFill>
            <a:srgbClr val="F6E8E2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5592" y="1344168"/>
            <a:ext cx="29718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Spurgeon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74736" y="1572768"/>
            <a:ext cx="2953512" cy="9509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“It is not thy hold on Christ that saves thee; it is Christ.”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83080" y="3246120"/>
            <a:ext cx="8503920" cy="1325880"/>
          </a:xfrm>
          <a:prstGeom prst="roundRect">
            <a:avLst/>
          </a:prstGeom>
          <a:solidFill>
            <a:srgbClr val="FFF2D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20240" y="3355848"/>
            <a:ext cx="822960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1F5A64"/>
                </a:solidFill>
                <a:latin typeface="Georgia"/>
              </a:rPr>
              <a:t>A biblical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9384" y="3584448"/>
            <a:ext cx="8211312" cy="9052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 i="1">
                <a:solidFill>
                  <a:srgbClr val="17313D"/>
                </a:solidFill>
                <a:latin typeface="Georgia"/>
              </a:rPr>
              <a:t>“By grace are ye saved through faith ... not of works, lest any man should boast.”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8680" y="5394960"/>
            <a:ext cx="7955279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14983" y="5468112"/>
            <a:ext cx="7680959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quote best challenges how we talk about grace in church?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D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Questions</a:t>
            </a:r>
          </a:p>
        </p:txBody>
      </p:sp>
      <p:pic>
        <p:nvPicPr>
          <p:cNvPr id="6" name="Picture 5" descr="vineyard-sunri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3800" y="868680"/>
            <a:ext cx="4206240" cy="5440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49808" y="1051560"/>
            <a:ext cx="5943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Use these to open the room up: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1. When has grace felt unfair to you?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2. Which is harder for you: receiving grace or giving it?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3. How does this parable challenge Adventist community life?</a:t>
            </a:r>
          </a:p>
          <a:p>
            <a:pPr>
              <a:spcAft>
                <a:spcPts val="900"/>
              </a:spcAft>
            </a:pPr>
            <a:r>
              <a:rPr sz="1600">
                <a:solidFill>
                  <a:srgbClr val="17313D"/>
                </a:solidFill>
                <a:latin typeface="Aptos"/>
              </a:rPr>
              <a:t>4. What does grace ask us to change after it forgives us?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343400"/>
            <a:ext cx="5760720" cy="914400"/>
          </a:xfrm>
          <a:prstGeom prst="roundRect">
            <a:avLst/>
          </a:prstGeom>
          <a:solidFill>
            <a:srgbClr val="FFF9EE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416552"/>
            <a:ext cx="543153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2835B"/>
                </a:solidFill>
                <a:latin typeface="Georgia"/>
              </a:rPr>
              <a:t>Luke 7:47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581144"/>
            <a:ext cx="5431536" cy="6035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1">
                <a:solidFill>
                  <a:srgbClr val="17313D"/>
                </a:solidFill>
                <a:latin typeface="Georgia"/>
              </a:rPr>
              <a:t>“Her sins, which are many, are forgiven; for she loved much.”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8" y="5532120"/>
            <a:ext cx="5760720" cy="420624"/>
          </a:xfrm>
          <a:prstGeom prst="roundRect">
            <a:avLst/>
          </a:prstGeom>
          <a:solidFill>
            <a:srgbClr val="FFF7E9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5605272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17313D"/>
                </a:solidFill>
                <a:latin typeface="Aptos"/>
              </a:rPr>
              <a:t>Which question should we leave space to answer out loud?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1E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94360"/>
          </a:xfrm>
          <a:prstGeom prst="rect">
            <a:avLst/>
          </a:prstGeom>
          <a:solidFill>
            <a:srgbClr val="1F5A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"/>
            <a:ext cx="12191695" cy="54864"/>
          </a:xfrm>
          <a:prstGeom prst="rect">
            <a:avLst/>
          </a:prstGeom>
          <a:solidFill>
            <a:srgbClr val="C8A2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64592"/>
            <a:ext cx="841248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600" b="1">
                <a:solidFill>
                  <a:srgbClr val="FFFFFF"/>
                </a:solidFill>
                <a:latin typeface="Georgia"/>
              </a:rPr>
              <a:t>Closing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164592"/>
            <a:ext cx="2331720" cy="20116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900" i="1">
                <a:solidFill>
                  <a:srgbClr val="EADFC9"/>
                </a:solidFill>
                <a:latin typeface="Aptos"/>
              </a:rPr>
              <a:t>Invitation</a:t>
            </a:r>
          </a:p>
        </p:txBody>
      </p:sp>
      <p:pic>
        <p:nvPicPr>
          <p:cNvPr id="6" name="Picture 5" descr="bible-sun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68680"/>
            <a:ext cx="12191695" cy="598932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868680"/>
            <a:ext cx="12191695" cy="5989320"/>
          </a:xfrm>
          <a:prstGeom prst="rect">
            <a:avLst/>
          </a:prstGeom>
          <a:solidFill>
            <a:srgbClr val="1731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1828800"/>
            <a:ext cx="68580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Grace does not deny justice.
It reveals mercy at the heart of God.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06324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900"/>
              </a:spcAft>
            </a:pPr>
            <a:r>
              <a:rPr sz="1400">
                <a:solidFill>
                  <a:srgbClr val="F6EFD9"/>
                </a:solidFill>
                <a:latin typeface="Aptos"/>
              </a:rPr>
              <a:t>So the question is not whether God is good enough to forgive.</a:t>
            </a:r>
          </a:p>
          <a:p>
            <a:pPr>
              <a:spcAft>
                <a:spcPts val="900"/>
              </a:spcAft>
            </a:pPr>
            <a:r>
              <a:rPr sz="1400">
                <a:solidFill>
                  <a:srgbClr val="F6EFD9"/>
                </a:solidFill>
                <a:latin typeface="Aptos"/>
              </a:rPr>
              <a:t>The question is whether we will receive the gift, and then live like people who have received 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4645152"/>
            <a:ext cx="4206240" cy="914400"/>
          </a:xfrm>
          <a:prstGeom prst="roundRect">
            <a:avLst/>
          </a:prstGeom>
          <a:solidFill>
            <a:srgbClr val="FFF1D3"/>
          </a:solidFill>
          <a:ln w="12700">
            <a:solidFill>
              <a:srgbClr val="C8A2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9848" y="4919472"/>
            <a:ext cx="3794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 i="1">
                <a:solidFill>
                  <a:srgbClr val="17313D"/>
                </a:solidFill>
                <a:latin typeface="Georgia"/>
              </a:rPr>
              <a:t>“The last shall be first.”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03152" y="6428232"/>
            <a:ext cx="320040" cy="14630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800">
                <a:solidFill>
                  <a:srgbClr val="52606D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